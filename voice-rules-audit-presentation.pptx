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RULES AUDIT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8 Cases Taught Us About the Framework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2743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Law Group  |  Case Page Content Framework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RULES (test cases)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657600" cy="347472"/>
          </a:xfrm>
          <a:prstGeom prst="rect">
            <a:avLst/>
          </a:prstGeom>
          <a:solidFill>
            <a:srgbClr val="EDF0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Maj. Blaine McGraw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417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medical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1417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1–16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764792"/>
            <a:ext cx="3657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6479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764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Women's Prison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17647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abuse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17647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17–18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112264"/>
            <a:ext cx="3657600" cy="347472"/>
          </a:xfrm>
          <a:prstGeom prst="rect">
            <a:avLst/>
          </a:prstGeom>
          <a:solidFill>
            <a:srgbClr val="EDF0F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1122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1122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Juvenile Detention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1122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Juvenile custody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211226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19–22 + Tone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RULES (new comparisons)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3657600" cy="347472"/>
          </a:xfrm>
          <a:prstGeom prst="rect">
            <a:avLst/>
          </a:prstGeom>
          <a:solidFill>
            <a:srgbClr val="FDF8EE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417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1417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Patrick Clyne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1417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foster care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764792"/>
            <a:ext cx="3657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76479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17647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Brothers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17647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trafficking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112264"/>
            <a:ext cx="3657600" cy="347472"/>
          </a:xfrm>
          <a:prstGeom prst="rect">
            <a:avLst/>
          </a:prstGeom>
          <a:solidFill>
            <a:srgbClr val="FDF8EE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1122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21122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Nkoy Lumbi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21122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abuse / nursing home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459736"/>
            <a:ext cx="3657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245973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24597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Clergy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29400" y="245973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clergy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807208"/>
            <a:ext cx="3657600" cy="347472"/>
          </a:xfrm>
          <a:prstGeom prst="rect">
            <a:avLst/>
          </a:prstGeom>
          <a:solidFill>
            <a:srgbClr val="FDF8EE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80720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28072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Northwell Health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29400" y="2807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camera / privacy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" y="3383280"/>
            <a:ext cx="7680960" cy="1280160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43" name="Shape 41"/>
          <p:cNvSpPr/>
          <p:nvPr/>
        </p:nvSpPr>
        <p:spPr>
          <a:xfrm>
            <a:off x="731520" y="3383280"/>
            <a:ext cx="54864" cy="12801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4" name="Text 42"/>
          <p:cNvSpPr/>
          <p:nvPr/>
        </p:nvSpPr>
        <p:spPr>
          <a:xfrm>
            <a:off x="1005840" y="347472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original test cases all involved sexual abuse in custodial/institutional settings. The 5 new cases span privacy violations, elder abuse, clergy institutional, sex trafficking, and individual medical defendants. Several rules were built from patterns that appeared in only 1 of 3 originals — meaning they captured a single case's approach, not a universal pattern.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Held Up Across All 8 Cases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are consistent in the human writer's work across every case type.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188720"/>
            <a:ext cx="54864" cy="384048"/>
          </a:xfrm>
          <a:prstGeom prst="rect">
            <a:avLst/>
          </a:prstGeom>
          <a:solidFill>
            <a:srgbClr val="5B8C6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188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Principles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17520" y="11887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authority, de-hedged facts, hedged predictions — every case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64592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645920"/>
            <a:ext cx="54864" cy="384048"/>
          </a:xfrm>
          <a:prstGeom prst="rect">
            <a:avLst/>
          </a:prstGeom>
          <a:solidFill>
            <a:srgbClr val="5B8C6B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1645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sections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017520" y="16459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Know, Timeline, Legal Rights, FAQ, CTAs, News, How HLG Supports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210312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2103120"/>
            <a:ext cx="54864" cy="384048"/>
          </a:xfrm>
          <a:prstGeom prst="rect">
            <a:avLst/>
          </a:prstGeom>
          <a:solidFill>
            <a:srgbClr val="5B8C6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103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keyword headings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017520" y="21031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News, FAQ use keyword-rich statements per the template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256032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2560320"/>
            <a:ext cx="54864" cy="384048"/>
          </a:xfrm>
          <a:prstGeom prst="rect">
            <a:avLst/>
          </a:prstGeom>
          <a:solidFill>
            <a:srgbClr val="5B8C6B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2560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Reader-centered headings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017520" y="25603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sections use questions that center the reader's experience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301752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017520"/>
            <a:ext cx="54864" cy="384048"/>
          </a:xfrm>
          <a:prstGeom prst="rect">
            <a:avLst/>
          </a:prstGeom>
          <a:solidFill>
            <a:srgbClr val="5B8C6B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3017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Sub-headed categories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017520" y="30175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sections broken into sub-headed categories (facilities, claim types, etc.)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1520" y="347472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1520" y="3474720"/>
            <a:ext cx="54864" cy="384048"/>
          </a:xfrm>
          <a:prstGeom prst="rect">
            <a:avLst/>
          </a:prstGeom>
          <a:solidFill>
            <a:srgbClr val="5B8C6B"/>
          </a:solidFill>
          <a:ln/>
        </p:spPr>
      </p:sp>
      <p:sp>
        <p:nvSpPr>
          <p:cNvPr id="27" name="Text 24"/>
          <p:cNvSpPr/>
          <p:nvPr/>
        </p:nvSpPr>
        <p:spPr>
          <a:xfrm>
            <a:off x="1005840" y="3474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body = trust-building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017520" y="34747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what reaching out does and does not do — every case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1520" y="393192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31520" y="3931920"/>
            <a:ext cx="54864" cy="384048"/>
          </a:xfrm>
          <a:prstGeom prst="rect">
            <a:avLst/>
          </a:prstGeom>
          <a:solidFill>
            <a:srgbClr val="5B8C6B"/>
          </a:solidFill>
          <a:ln/>
        </p:spPr>
      </p:sp>
      <p:sp>
        <p:nvSpPr>
          <p:cNvPr id="31" name="Text 28"/>
          <p:cNvSpPr/>
          <p:nvPr/>
        </p:nvSpPr>
        <p:spPr>
          <a:xfrm>
            <a:off x="1005840" y="3931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section as Q&amp;A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017520" y="39319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 reader questions, not statute lectures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1520" y="438912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31520" y="4389120"/>
            <a:ext cx="54864" cy="384048"/>
          </a:xfrm>
          <a:prstGeom prst="rect">
            <a:avLst/>
          </a:prstGeom>
          <a:solidFill>
            <a:srgbClr val="5B8C6B"/>
          </a:solidFill>
          <a:ln/>
        </p:spPr>
      </p:sp>
      <p:sp>
        <p:nvSpPr>
          <p:cNvPr id="35" name="Text 32"/>
          <p:cNvSpPr/>
          <p:nvPr/>
        </p:nvSpPr>
        <p:spPr>
          <a:xfrm>
            <a:off x="1005840" y="4389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Shame/uncertainty addressed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017520" y="438912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addresses the reader's barriers — just in different forms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Shifted Between Originals and New Cases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were built from 1–2 of the 3 original test cases. The human writer doesn't follow them in the 5 new cases.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7680960" cy="3017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3444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63240" y="1234440"/>
            <a:ext cx="685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794760" y="1234440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434840" y="123444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happening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1536192"/>
            <a:ext cx="7680960" cy="338328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36192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5: Moral principle opening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063240" y="1536192"/>
            <a:ext cx="685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94760" y="1536192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34840" y="1536192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violation still established — but as narrative, not declaration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1520" y="1874520"/>
            <a:ext cx="7680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1874520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5: Family invitation in intro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063240" y="1874520"/>
            <a:ext cx="685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94760" y="1874520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34840" y="1874520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appears — just later on page (HLG section or FAQ)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1520" y="2212848"/>
            <a:ext cx="7680960" cy="338328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2212848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 Standalone Impact section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063240" y="2212848"/>
            <a:ext cx="685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~1/3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794760" y="2212848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434840" y="2212848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validation embedded in other sections instead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31520" y="2551176"/>
            <a:ext cx="7680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2551176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 Standalone Compensation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063240" y="2551176"/>
            <a:ext cx="685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~1/3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794760" y="2551176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434840" y="2551176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entirely — possibly legal risk or too generic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31520" y="2889504"/>
            <a:ext cx="7680960" cy="338328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2889504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18: Standalone Why Now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63240" y="2889504"/>
            <a:ext cx="685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794760" y="2889504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434840" y="2889504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distributed across legal, timeline, and news sections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31520" y="3227832"/>
            <a:ext cx="7680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822960" y="3227832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19: Standalone shame callouts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063240" y="3227832"/>
            <a:ext cx="685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794760" y="3227832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434840" y="3227832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 IS addressed — but woven in, not standalone callouts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31520" y="3566160"/>
            <a:ext cx="7680960" cy="338328"/>
          </a:xfrm>
          <a:prstGeom prst="rect">
            <a:avLst/>
          </a:prstGeom>
          <a:solidFill>
            <a:srgbClr val="F8F8F6"/>
          </a:solidFill>
          <a:ln/>
        </p:spPr>
      </p:sp>
      <p:sp>
        <p:nvSpPr>
          <p:cNvPr id="41" name="Text 38"/>
          <p:cNvSpPr/>
          <p:nvPr/>
        </p:nvSpPr>
        <p:spPr>
          <a:xfrm>
            <a:off x="822960" y="3566160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21: Parallel cases in news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063240" y="3566160"/>
            <a:ext cx="685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794760" y="3566160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434840" y="3566160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cases appear in body text, not news section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31520" y="3904488"/>
            <a:ext cx="7680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822960" y="3904488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12: Trust Banner block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063240" y="3904488"/>
            <a:ext cx="685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3794760" y="3904488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434840" y="3904488"/>
            <a:ext cx="3886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handled by hero component — implementation, not content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31520" y="4379976"/>
            <a:ext cx="7680960" cy="457200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51" name="Shape 48"/>
          <p:cNvSpPr/>
          <p:nvPr/>
        </p:nvSpPr>
        <p:spPr>
          <a:xfrm>
            <a:off x="731520" y="4379976"/>
            <a:ext cx="54864" cy="4572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2" name="Text 49"/>
          <p:cNvSpPr/>
          <p:nvPr/>
        </p:nvSpPr>
        <p:spPr>
          <a:xfrm>
            <a:off x="1005840" y="4379976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behind most of these rules still appears in every case — it's the FORMAT (standalone section vs. embedded) that changed.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Patterns in the Human's 5 Cases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new practices not captured by the current rules or template.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234440"/>
            <a:ext cx="54864" cy="548640"/>
          </a:xfrm>
          <a:prstGeom prst="rect">
            <a:avLst/>
          </a:prstGeom>
          <a:solidFill>
            <a:srgbClr val="3D6B8E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34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Defendant/institution response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0" y="12344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denial or official statement for credibility and fairness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80960" y="1234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1892808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1892808"/>
            <a:ext cx="54864" cy="548640"/>
          </a:xfrm>
          <a:prstGeom prst="rect">
            <a:avLst/>
          </a:prstGeom>
          <a:solidFill>
            <a:srgbClr val="3D6B8E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1892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chronological news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0" y="18928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and conversion-relevant items first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80960" y="18928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2551176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2551176"/>
            <a:ext cx="54864" cy="548640"/>
          </a:xfrm>
          <a:prstGeom prst="rect">
            <a:avLst/>
          </a:prstGeom>
          <a:solidFill>
            <a:srgbClr val="3D6B8E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255117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Elevates the key failure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00400" y="255117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conversion-relevant institutional failure gets its own section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80960" y="255117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" y="3209544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1520" y="3209544"/>
            <a:ext cx="54864" cy="548640"/>
          </a:xfrm>
          <a:prstGeom prst="rect">
            <a:avLst/>
          </a:prstGeom>
          <a:solidFill>
            <a:srgbClr val="3D6B8E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20954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destruction highlighted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0" y="320954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fact AND to address reader uncertainty ("may never be known")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680960" y="320954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1520" y="3867912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1520" y="3867912"/>
            <a:ext cx="54864" cy="548640"/>
          </a:xfrm>
          <a:prstGeom prst="rect">
            <a:avLst/>
          </a:prstGeom>
          <a:solidFill>
            <a:srgbClr val="3D6B8E"/>
          </a:solidFill>
          <a:ln/>
        </p:spPr>
      </p:sp>
      <p:sp>
        <p:nvSpPr>
          <p:cNvPr id="27" name="Text 24"/>
          <p:cNvSpPr/>
          <p:nvPr/>
        </p:nvSpPr>
        <p:spPr>
          <a:xfrm>
            <a:off x="1005840" y="386791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Tighter, search-targeted FAQs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200400" y="38679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Case-specific questions people would type into Google or ChatGPT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80960" y="38679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Emotional Register Varies by Case Type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tone principles set the baseline. The human writer adjusts warmth based on victim population and harm type.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C45B52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8600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Juvenile, CA Prison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custody, incarcerated women — moral principle opening, family language, shame callouts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468880"/>
            <a:ext cx="5120640" cy="9144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286000" y="2514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Clergy, Alexander Brothers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2834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institutional abuse, trafficking — measured, scope-focused, criminal anchor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3566160"/>
            <a:ext cx="3474720" cy="914400"/>
          </a:xfrm>
          <a:prstGeom prst="rect">
            <a:avLst/>
          </a:prstGeom>
          <a:solidFill>
            <a:srgbClr val="3D6B8E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11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86000" y="3611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Clyne, Lumbi, Northwell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3931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defendant, elder abuse, privacy — flat case briefing, clinical precision, qualifying CTAs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4572000"/>
            <a:ext cx="7680960" cy="2743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Diagnosis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1F326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C45B5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over-indexed on NYC Juvenile and CA Prison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18, 19, 21 were each built from a single test case. That's an observation, not a pattern. The new cases confirm these are case-type-specific, not universal.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1F326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54864" cy="7772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is universal, the FORMAT varies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4871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 barriers, family acknowledgment, "why now" arguments, and compensation info all appear in every case — but the human distributes them across sections rather than giving each its own heading.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1F3260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3D6B8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writer's overall approach got cooler and leaner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015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accounting for case-type differences, the new cases are more restrained. No "courage," no "we are here to listen." Trust is built through thoroughness and specificity, not warmth.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1F326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5B8C6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and template currently contradict each other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3159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says question headings. Template says keyword statements for Timeline/News/FAQ. Rule 4 lists required sections. Template structures the page differently. These need to be one document.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Proposed: Combined Rules + Template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with two layers. Merge the voice rules and the template so they stop contradicting each other.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LAYER (every case page)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7830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authority. De-hedge facts, hedge predictions. Let reader feel.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2585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Know (bullets) → Content sections (question headings) → Timeline, News, FAQ (keyword headings) → CTAs → HLG Supports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273405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names defendant/institution. Keyword headings for Timeline, News, FAQ. FAQs target search queries.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" y="320954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rights as Q&amp;A. Civil vs. criminal. Process explanation. Include defendant response.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4400" y="368503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Case-specific CTA headline. Body explains does/doesn't. Shame barriers addressed (embedded). Family acknowledged.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" y="41605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alternation. Sub-headed categories. Reverse chron news. 2,400–3,500 words.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128016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CASE-TYPE LAYER (adjustments)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17830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Child/Custodial Abuse: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register. Moral principle opening. Standalone shame callouts. Family in intro.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0" y="225856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Defendant: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register. Factual opening. Defendant denial prominent. Shorter page.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37760" y="273405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Abuse: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register. Family-audience framing. Guilt-focused barriers. Facility negligence law.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37760" y="320954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Clergy/Institutional: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register. Scope management. Layered legal frameworks. Historical timeline.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37760" y="368503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Privacy/Surveillance: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Coolest register. Narrative opening. Elevate notification delay. Qualifying CTAs.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37760" y="41605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Trafficking:  </a:t>
            </a:r>
            <a:pPr indent="0" marL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Cool-medium register. Criminal anchor. Sensitive identification language.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Merging Resolves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914400"/>
            <a:ext cx="7680960" cy="658368"/>
          </a:xfrm>
          <a:prstGeom prst="rect">
            <a:avLst/>
          </a:prstGeom>
          <a:solidFill>
            <a:srgbClr val="F5F3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87552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9326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says question headings. Template says keyword headings for Timeline/News/FAQ.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987552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7800" y="9326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 question headings for content sections, keyword headings for SEO sections.</a:t>
            </a:r>
            <a:endParaRPr lang="en-US" sz="950" dirty="0"/>
          </a:p>
        </p:txBody>
      </p:sp>
      <p:sp>
        <p:nvSpPr>
          <p:cNvPr id="9" name="Shape 4"/>
          <p:cNvSpPr/>
          <p:nvPr/>
        </p:nvSpPr>
        <p:spPr>
          <a:xfrm>
            <a:off x="4846320" y="1005840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31520" y="169164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6479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17099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 lists required standalone sections. Human distributes the content differently.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76479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57800" y="17099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required CONTENT, not required SECTIONS. Content checklist, not section checklist.</a:t>
            </a:r>
            <a:endParaRPr lang="en-US" sz="950" dirty="0"/>
          </a:p>
        </p:txBody>
      </p:sp>
      <p:sp>
        <p:nvSpPr>
          <p:cNvPr id="15" name="Shape 8"/>
          <p:cNvSpPr/>
          <p:nvPr/>
        </p:nvSpPr>
        <p:spPr>
          <a:xfrm>
            <a:off x="4846320" y="1783080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731520" y="2468880"/>
            <a:ext cx="7680960" cy="658368"/>
          </a:xfrm>
          <a:prstGeom prst="rect">
            <a:avLst/>
          </a:prstGeom>
          <a:solidFill>
            <a:srgbClr val="F5F3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542032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88720" y="24871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 says moral principle opening. Only works for warm case types.</a:t>
            </a:r>
            <a:endParaRPr lang="en-US" sz="9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542032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257800" y="24871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Universal: establish the trust violation early. Case-type: format varies (principle vs. narrative vs. factual).</a:t>
            </a:r>
            <a:endParaRPr lang="en-US" sz="950" dirty="0"/>
          </a:p>
        </p:txBody>
      </p:sp>
      <p:sp>
        <p:nvSpPr>
          <p:cNvPr id="21" name="Shape 12"/>
          <p:cNvSpPr/>
          <p:nvPr/>
        </p:nvSpPr>
        <p:spPr>
          <a:xfrm>
            <a:off x="4846320" y="2560320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731520" y="324612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319272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188720" y="32644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19 says standalone shame callouts. Human embeds them instead.</a:t>
            </a:r>
            <a:endParaRPr lang="en-US" sz="9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319272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57800" y="32644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Universal: address shame barriers. Format: embed in context, not standalone (unless child/custodial case).</a:t>
            </a:r>
            <a:endParaRPr lang="en-US" sz="950" dirty="0"/>
          </a:p>
        </p:txBody>
      </p:sp>
      <p:sp>
        <p:nvSpPr>
          <p:cNvPr id="27" name="Shape 16"/>
          <p:cNvSpPr/>
          <p:nvPr/>
        </p:nvSpPr>
        <p:spPr>
          <a:xfrm>
            <a:off x="4846320" y="3337560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731520" y="4023360"/>
            <a:ext cx="7680960" cy="658368"/>
          </a:xfrm>
          <a:prstGeom prst="rect">
            <a:avLst/>
          </a:prstGeom>
          <a:solidFill>
            <a:srgbClr val="F5F3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4096512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188720" y="4041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rules and template are separate documents that sometimes contradict.</a:t>
            </a:r>
            <a:endParaRPr lang="en-US" sz="9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4096512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57800" y="40416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document. One source of truth. AI and human writer both reference the same thing.</a:t>
            </a:r>
            <a:endParaRPr lang="en-US" sz="950" dirty="0"/>
          </a:p>
        </p:txBody>
      </p:sp>
      <p:sp>
        <p:nvSpPr>
          <p:cNvPr id="33" name="Shape 20"/>
          <p:cNvSpPr/>
          <p:nvPr/>
        </p:nvSpPr>
        <p:spPr>
          <a:xfrm>
            <a:off x="4846320" y="4114800"/>
            <a:ext cx="0" cy="47548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274320"/>
            <a:ext cx="7178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for the Writer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finalize the combined document, we need clarity on these.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188720"/>
            <a:ext cx="54864" cy="5303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070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principle opening — gone or case-specific?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4447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it in NYC Juvenile and CA Prison but not in any of the 5 new cases. Is the shift deliberate across all case types, or would you still use it for child abuse / custodial cases?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" y="1810512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810512"/>
            <a:ext cx="54864" cy="5303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182880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content — dropped for a reason?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20665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compensation sections are absent from all 5 new cases. Is this a legal risk decision, a content strategy choice, or something else?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31520" y="2432304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2432304"/>
            <a:ext cx="54864" cy="5303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245059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shift — evolution or case-type?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" y="26883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new cases are cooler in tone. No "courage," no "we are here to listen." If you rewrote NYC Juvenile today, would it be warmer than Northwell — or would it also get the cooler treatment?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1520" y="3054096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054096"/>
            <a:ext cx="54864" cy="5303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307238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Defendant denial — standard practice?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05840" y="3310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include the defendant/institution response in 4 of 5 new cases. Should this be a rule going forward?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3675888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675888"/>
            <a:ext cx="54864" cy="5303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369417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acknowledgment — where should it live?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840" y="3931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NYC Juvenile it was in the intro. In new cases it's in the HLG section at the end. Is the intro reserved for case briefing now?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4297680"/>
            <a:ext cx="76809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1520" y="4297680"/>
            <a:ext cx="54864" cy="5303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7" name="Text 24"/>
          <p:cNvSpPr/>
          <p:nvPr/>
        </p:nvSpPr>
        <p:spPr>
          <a:xfrm>
            <a:off x="1005840" y="4315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shame callouts — too visible as a technique?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5537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Juvenile had standalone callouts. New cases embed validation instead. Did the standalone approach feel too formulaic?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685800"/>
          </a:xfrm>
          <a:prstGeom prst="rect">
            <a:avLst/>
          </a:prstGeom>
          <a:solidFill>
            <a:srgbClr val="1F326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6858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writer's answers to the 6 questions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whether shifts are deliberate evolution, case-type-specific, or both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680960" cy="685800"/>
          </a:xfrm>
          <a:prstGeom prst="rect">
            <a:avLst/>
          </a:prstGeom>
          <a:solidFill>
            <a:srgbClr val="1F326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86000"/>
            <a:ext cx="54864" cy="6858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23317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combined Rules + Template document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651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layer + case-type layer. One source of truth for AI and human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685800"/>
          </a:xfrm>
          <a:prstGeom prst="rect">
            <a:avLst/>
          </a:prstGeom>
          <a:solidFill>
            <a:srgbClr val="1F326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108960"/>
            <a:ext cx="54864" cy="6858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31546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run AI draft using combined doc on a new case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4747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human version. Measure whether the gap has closed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7680960" cy="685800"/>
          </a:xfrm>
          <a:prstGeom prst="rect">
            <a:avLst/>
          </a:prstGeom>
          <a:solidFill>
            <a:srgbClr val="1F326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931920"/>
            <a:ext cx="54864" cy="68580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319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9776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if needed — then ship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2976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AI drafts that need editorial polish, not rewriting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docs: voice-rules-audit-8-cases.md  |  All 5 AI drafts in the help-law folder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 Law Group Voice Rules Audit</dc:title>
  <dc:subject>PptxGenJS Presentation</dc:subject>
  <dc:creator>Sarah Servold</dc:creator>
  <cp:lastModifiedBy>Sarah Servold</cp:lastModifiedBy>
  <cp:revision>1</cp:revision>
  <dcterms:created xsi:type="dcterms:W3CDTF">2026-04-22T14:56:16Z</dcterms:created>
  <dcterms:modified xsi:type="dcterms:W3CDTF">2026-04-22T14:56:16Z</dcterms:modified>
</cp:coreProperties>
</file>